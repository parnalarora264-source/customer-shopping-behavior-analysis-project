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amiljen Grotesk Medium"/>
      <p:regular r:id="rId201314"/>
    </p:embeddedFont>
    <p:embeddedFont>
      <p:font typeface="Familjen Grotesk SemiBold"/>
      <p:regular r:id="rId201315"/>
    </p:embeddedFont>
    <p:embeddedFont>
      <p:font typeface="Familjen Grotesk Bold"/>
      <p:regular r:id="rId201316"/>
    </p:embeddedFont>
    <p:embeddedFont>
      <p:font typeface="Newsreader"/>
      <p:regular r:id="rId201317"/>
    </p:embeddedFont>
    <p:embeddedFont>
      <p:font typeface="Newsreader Bold"/>
      <p:regular r:id="rId201318"/>
    </p:embeddedFont>
    <p:embeddedFont>
      <p:font typeface="Nunito Sans"/>
      <p:regular r:id="rId201319"/>
    </p:embeddedFont>
    <p:embeddedFont>
      <p:font typeface="Nunito Sans SemiBold"/>
      <p:regular r:id="rId201320"/>
    </p:embeddedFont>
    <p:embeddedFont>
      <p:font typeface="Nunito Sans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17">
              <a:alpha val="78000"/>
            </a:srgbClr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07186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E8A33D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5402782"/>
            <a:ext cx="10972526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-88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Customer shopping behavior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6104930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Turn 3,900 shopping records into a clear story about revenue, categories, loyalty, subscriptions, and customer segments.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26109"/>
            <a:ext cx="643119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2003826"/>
            <a:ext cx="5821614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b="1" spc="-60" kern="10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The dataset points to a $59.76 average purchase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931021"/>
            <a:ext cx="2682213" cy="74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spc="-27" kern="1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$59.76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09585" y="3909715"/>
            <a:ext cx="670404" cy="38100"/>
          </a:xfrm>
          <a:prstGeom prst="roundRect">
            <a:avLst>
              <a:gd name="adj" fmla="val 49999"/>
            </a:avLst>
          </a:prstGeom>
          <a:solidFill>
            <a:srgbClr val="1F4D3A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071640"/>
            <a:ext cx="2910807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Average purchase amount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8986" y="2931021"/>
            <a:ext cx="2682213" cy="74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spc="-27" kern="1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3.75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3748986" y="3909715"/>
            <a:ext cx="670404" cy="38100"/>
          </a:xfrm>
          <a:prstGeom prst="roundRect">
            <a:avLst>
              <a:gd name="adj" fmla="val 49999"/>
            </a:avLst>
          </a:prstGeom>
          <a:solidFill>
            <a:srgbClr val="1F4D3A"/>
          </a:solidFill>
          <a:ln/>
        </p:spPr>
      </p:sp>
      <p:sp>
        <p:nvSpPr>
          <p:cNvPr id="9" name="Text 7"/>
          <p:cNvSpPr/>
          <p:nvPr/>
        </p:nvSpPr>
        <p:spPr>
          <a:xfrm>
            <a:off x="3748986" y="4071640"/>
            <a:ext cx="268221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Average review rating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585" y="4528006"/>
            <a:ext cx="643119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615A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Scope: 3,900 shopping records across 18 original fields.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9585" y="4874816"/>
            <a:ext cx="643119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Clothing leads the business, while loyalty is already high.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514042" y="2931021"/>
            <a:ext cx="12700" cy="1411089"/>
          </a:xfrm>
          <a:prstGeom prst="rect">
            <a:avLst/>
          </a:prstGeom>
          <a:solidFill>
            <a:srgbClr val="141A17">
              <a:alpha val="24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094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811"/>
            <a:ext cx="10972526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b="1" spc="-60" kern="10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The analysis pipeline turns raw records into business-ready fields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77435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4D3A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3041055"/>
            <a:ext cx="2400240" cy="1905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177580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Clean ratings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641130"/>
            <a:ext cx="240024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Clean missing review ratings using category medians.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67013" y="277435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4D3A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67013" y="3041055"/>
            <a:ext cx="2400240" cy="1905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0" name="Text 8"/>
          <p:cNvSpPr/>
          <p:nvPr/>
        </p:nvSpPr>
        <p:spPr>
          <a:xfrm>
            <a:off x="3467013" y="3177580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Standardize fields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7013" y="3641130"/>
            <a:ext cx="240024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Standardize column names and simplify purchase amount naming.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24442" y="277435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4D3A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24442" y="3041055"/>
            <a:ext cx="2400240" cy="1905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3177580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Create segments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24442" y="3641130"/>
            <a:ext cx="240024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Create quantile-based age groups and remove a redundant promotion flag.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81870" y="277435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F4D3A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81870" y="3041055"/>
            <a:ext cx="2400240" cy="1905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8" name="Text 16"/>
          <p:cNvSpPr/>
          <p:nvPr/>
        </p:nvSpPr>
        <p:spPr>
          <a:xfrm>
            <a:off x="9181870" y="3177580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Communicate results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81870" y="3641130"/>
            <a:ext cx="2400240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 SQL business questions and an interactive dashboard to communicate results.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094"/>
            <a:ext cx="7017864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CATEGORY MIX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811"/>
            <a:ext cx="6408280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b="1" spc="-60" kern="10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Clothing is the commercial center of the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046287"/>
            <a:ext cx="640828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Clothing leads both sales volume and revenue. Accessories follows, then Footwear and Outerwear.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58678"/>
            <a:ext cx="6408280" cy="308094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538" y="0"/>
            <a:ext cx="41071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82563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GENDER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260281"/>
            <a:ext cx="10972526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b="1" spc="-60" kern="10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Male customers contribute more total revenue in this sample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798935"/>
            <a:ext cx="1097252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Total purchase amount is higher for male customers, but revenue scale should be paired with customer counts before targeting decisions.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11326"/>
            <a:ext cx="9651759" cy="311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713472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615A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Observed total purchase amount in the analyzed records.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094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SUBSCRIPTION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811"/>
            <a:ext cx="10972526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b="1" spc="-60" kern="10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Subscription is a minority status, not a higher-spend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590403"/>
            <a:ext cx="3454314" cy="2316559"/>
          </a:xfrm>
          <a:prstGeom prst="roundRect">
            <a:avLst>
              <a:gd name="adj" fmla="val 1233"/>
            </a:avLst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819003"/>
            <a:ext cx="2997125" cy="74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spc="-27" kern="10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27%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38179" y="3673872"/>
            <a:ext cx="29971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Subscribers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4137422"/>
            <a:ext cx="299712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$59.49 average spend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$62,645 total spend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8691" y="2590403"/>
            <a:ext cx="3454314" cy="2316559"/>
          </a:xfrm>
          <a:prstGeom prst="roundRect">
            <a:avLst>
              <a:gd name="adj" fmla="val 1233"/>
            </a:avLst>
          </a:prstGeom>
          <a:solidFill>
            <a:srgbClr val="EDE4D2"/>
          </a:solidFill>
          <a:ln/>
        </p:spPr>
      </p:sp>
      <p:sp>
        <p:nvSpPr>
          <p:cNvPr id="9" name="Text 7"/>
          <p:cNvSpPr/>
          <p:nvPr/>
        </p:nvSpPr>
        <p:spPr>
          <a:xfrm>
            <a:off x="4597285" y="2819003"/>
            <a:ext cx="2997125" cy="74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spc="-27" kern="100" dirty="0">
                <a:solidFill>
                  <a:srgbClr val="262E2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73%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97285" y="3673872"/>
            <a:ext cx="29971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Non-subscribers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7285" y="4137422"/>
            <a:ext cx="299712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$59.87 average spend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$170,436 total spend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7797" y="2590403"/>
            <a:ext cx="3454314" cy="2316559"/>
          </a:xfrm>
          <a:prstGeom prst="roundRect">
            <a:avLst>
              <a:gd name="adj" fmla="val 1233"/>
            </a:avLst>
          </a:prstGeom>
          <a:solidFill>
            <a:srgbClr val="EDE4D2"/>
          </a:solidFill>
          <a:ln/>
        </p:spPr>
      </p:sp>
      <p:sp>
        <p:nvSpPr>
          <p:cNvPr id="13" name="Text 11"/>
          <p:cNvSpPr/>
          <p:nvPr/>
        </p:nvSpPr>
        <p:spPr>
          <a:xfrm>
            <a:off x="8356391" y="2822178"/>
            <a:ext cx="29971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Read carefully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56391" y="3285728"/>
            <a:ext cx="2997125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Subscription value may be retention-led rather than driven by larger baskets.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094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DISCOUNT EXPOSURE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811"/>
            <a:ext cx="10972526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b="1" spc="-60" kern="10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Discounting is concentrated around a handful of products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39466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Hat, Sneakers, Coat, Sweater, and Pants have the highest discounted-record shares.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81386"/>
            <a:ext cx="9651759" cy="317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147032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615A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839 records met the report’s discounted-and-above-average condition. Overall average purchase amount: $59.76.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9585" y="5493841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Compare discount exposure with margin and repeat purchase behavior before scaling promotions.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094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SHIPPING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811"/>
            <a:ext cx="10972526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b="1" spc="-60" kern="10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Express shipping correlates with a slightly higher average basket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61827"/>
            <a:ext cx="5257668" cy="2728020"/>
          </a:xfrm>
          <a:prstGeom prst="roundRect">
            <a:avLst>
              <a:gd name="adj" fmla="val 1047"/>
            </a:avLst>
          </a:prstGeom>
          <a:noFill/>
          <a:ln w="25399">
            <a:solidFill>
              <a:srgbClr val="AFBE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3578" y="2015827"/>
            <a:ext cx="4749681" cy="987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spc="-36" kern="1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$60.48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863578" y="3241477"/>
            <a:ext cx="1187420" cy="38100"/>
          </a:xfrm>
          <a:prstGeom prst="roundRect">
            <a:avLst>
              <a:gd name="adj" fmla="val 49999"/>
            </a:avLst>
          </a:prstGeom>
          <a:solidFill>
            <a:srgbClr val="1F4D3A"/>
          </a:solidFill>
          <a:ln/>
        </p:spPr>
      </p:sp>
      <p:sp>
        <p:nvSpPr>
          <p:cNvPr id="7" name="Text 5"/>
          <p:cNvSpPr/>
          <p:nvPr/>
        </p:nvSpPr>
        <p:spPr>
          <a:xfrm>
            <a:off x="863578" y="3501826"/>
            <a:ext cx="474968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Express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3578" y="3965377"/>
            <a:ext cx="500367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Average purchase amount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24442" y="1761827"/>
            <a:ext cx="5257668" cy="2728020"/>
          </a:xfrm>
          <a:prstGeom prst="roundRect">
            <a:avLst>
              <a:gd name="adj" fmla="val 1047"/>
            </a:avLst>
          </a:prstGeom>
          <a:noFill/>
          <a:ln w="25399">
            <a:solidFill>
              <a:srgbClr val="AFBE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8435" y="2015827"/>
            <a:ext cx="4749681" cy="987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spc="-36" kern="100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$58.46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6578435" y="3241477"/>
            <a:ext cx="1187420" cy="38100"/>
          </a:xfrm>
          <a:prstGeom prst="roundRect">
            <a:avLst>
              <a:gd name="adj" fmla="val 49999"/>
            </a:avLst>
          </a:prstGeom>
          <a:solidFill>
            <a:srgbClr val="1F4D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78435" y="3501826"/>
            <a:ext cx="474968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Standard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78435" y="3965377"/>
            <a:ext cx="500367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Average purchase amount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585" y="4718447"/>
            <a:ext cx="10972526" cy="1017191"/>
          </a:xfrm>
          <a:prstGeom prst="roundRect">
            <a:avLst>
              <a:gd name="adj" fmla="val 2809"/>
            </a:avLst>
          </a:prstGeom>
          <a:solidFill>
            <a:srgbClr val="DBF0E7"/>
          </a:solidFill>
          <a:ln/>
        </p:spPr>
      </p:sp>
      <p:sp>
        <p:nvSpPr>
          <p:cNvPr id="15" name="Text 13"/>
          <p:cNvSpPr/>
          <p:nvPr/>
        </p:nvSpPr>
        <p:spPr>
          <a:xfrm>
            <a:off x="800080" y="4956572"/>
            <a:ext cx="1059153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Gap: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Express is $2.02 higher on average, a useful signal but not proof of causation. Higher-value or time-sensitive orders may be more likely to use Express.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094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CUSTOMER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811"/>
            <a:ext cx="10972526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b="1" spc="-60" kern="10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Loyalty dominates the customer 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39466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Most records are loyal customers, while new customers represent a small minority.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81386"/>
            <a:ext cx="9651759" cy="311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083532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615A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Repeat buyers: 2,518 non-subscribers and 958 subscribers had more than five previous purchases.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094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AGE GROUP TOTALS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811"/>
            <a:ext cx="10972526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b="1" spc="-60" kern="10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Young customers generate the most total purchase amount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39466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Total purchase amount ranks Young first, followed by Middle, Adult, and Senior.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81386"/>
            <a:ext cx="9651759" cy="311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083532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615A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These are age-group totals, not per-customer value.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2026-10-15T13:06:59Z</dcterms:created>
  <dcterms:modified xsi:type="dcterms:W3CDTF">2026-10-15T13:06:59Z</dcterms:modified>
</cp:coreProperties>
</file>